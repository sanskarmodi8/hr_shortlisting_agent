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8.xml"/><Relationship Id="rId20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0177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HR Shortlisting Agent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01466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Two-Path Agentic Architecture · Hybrid BM25 + Semantic Embeddings + LLM Scoring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856979"/>
            <a:ext cx="47227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Sanskar Modi · AI Enablement Internship — Task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229049"/>
            <a:ext cx="47227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Production-grade. PII-safe. Human-in-the-loop.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6000"/>
            <a:ext cx="56283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HR Screening Breaks at Scale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42505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0890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Volume Overload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395538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 teams screen 200+ resumes per role, leading to fatigue and inconsistent evaluation quality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942505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0890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Bias Creep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395538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Unconscious bias seeps into manual evaluation, affecting fairness and diversity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942505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0890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Zero Transparency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395538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transparency in scoring means no accountability or ability to explain decisions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39331"/>
            <a:ext cx="8151763" cy="588169"/>
          </a:xfrm>
          <a:prstGeom prst="roundRect">
            <a:avLst>
              <a:gd name="adj" fmla="val 10123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4486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516511"/>
            <a:ext cx="754930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need a system that is fast, fair, explainable, and keeps humans in control.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397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the Agent Does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0480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Ingests a Job Description plus batch of resumes and produces a ranked shortlist with transparent, dimension-level scores and human override capability.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5152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16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JD Parser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471663"/>
            <a:ext cx="34557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4 → structured Pydantic output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165152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216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Two-Path Screening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92092" y="2471663"/>
            <a:ext cx="34557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BM25 fast path + LLM full path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7782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296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Hybrid Scoring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3274293"/>
            <a:ext cx="34557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BM25 + Sentence Embeddings + LLM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967782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296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5-Dimension Rubric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92092" y="3274293"/>
            <a:ext cx="34557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Skills, Experience, Education, Projects, Communication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70412"/>
            <a:ext cx="354360" cy="354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27658" y="37704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PII-Safe Pipeline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27658" y="4076923"/>
            <a:ext cx="345571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Masking before any cloud API call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770412"/>
            <a:ext cx="354360" cy="3543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92092" y="37704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5192092" y="4076923"/>
            <a:ext cx="34557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Audit-logged score adjustments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35682"/>
            <a:ext cx="3952429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Two-Path Agent Architecture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7" y="860822"/>
            <a:ext cx="4412605" cy="35028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55198" y="2324534"/>
            <a:ext cx="792982" cy="54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Resume Screening Pipeline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235287" y="1275283"/>
            <a:ext cx="1179702" cy="181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235287" y="1508181"/>
            <a:ext cx="1179702" cy="13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&amp; PII checks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268949" y="1208395"/>
            <a:ext cx="1179702" cy="181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Ranked Shortlist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268949" y="1441293"/>
            <a:ext cx="1179702" cy="26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report with human override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268949" y="3328756"/>
            <a:ext cx="1179702" cy="5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Full Path (Embeddings + LLM)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68949" y="3924299"/>
            <a:ext cx="1179702" cy="267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similarity &amp; LLM scoring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35287" y="3509977"/>
            <a:ext cx="1179702" cy="181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Fast Path (BM25)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35287" y="3742876"/>
            <a:ext cx="1179702" cy="267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reject if &lt;15% overlap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60789" y="2343069"/>
            <a:ext cx="1205490" cy="181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JD Parsing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60789" y="2575967"/>
            <a:ext cx="1205490" cy="267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skills and requirements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36999" y="2349516"/>
            <a:ext cx="1205490" cy="181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Bias Detection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36999" y="2582414"/>
            <a:ext cx="1205490" cy="267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Fairness checks on scores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18654" y="4477122"/>
            <a:ext cx="4877693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Path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(BM25) provides instant rejections with zero LLM cost. 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Path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(Embeddings + LLM) delivers nuanced scoring for qualified candidates.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23267"/>
            <a:ext cx="489376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Choices &amp; Rationale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87710"/>
            <a:ext cx="8213675" cy="3632522"/>
          </a:xfrm>
          <a:prstGeom prst="roundRect">
            <a:avLst>
              <a:gd name="adj" fmla="val 15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9925" y="1092473"/>
            <a:ext cx="8204150" cy="352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02903" y="1171947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6284" y="1171947"/>
            <a:ext cx="260084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27700" y="1171947"/>
            <a:ext cx="301347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9925" y="1444526"/>
            <a:ext cx="8204150" cy="5451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2903" y="1524000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6284" y="1524000"/>
            <a:ext cx="2600846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4 (claude-sonnet-4-20250514)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27700" y="1524000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JSON reliability, 200K context, strong structured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925" y="1989683"/>
            <a:ext cx="8204150" cy="5451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2903" y="2069157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6284" y="2069157"/>
            <a:ext cx="2600846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Two-Path Orchestrator (no LangChain)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27700" y="2069157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transparency, direct SDK control, Pydantic-native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925" y="2534841"/>
            <a:ext cx="8204150" cy="5451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2903" y="2614315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6284" y="2614315"/>
            <a:ext cx="260084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all-MiniLM-L6-v2 (sentence-transformers)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27700" y="2614315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locally, zero API cost, sufficient for skill-level matching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925" y="3079998"/>
            <a:ext cx="8204150" cy="5451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2903" y="3159472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 Parsing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6284" y="3159472"/>
            <a:ext cx="260084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PyMuPDF + python-docx + LLM 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27700" y="3159472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multi-column PDFs; regex fails on varied resume formats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925" y="3625155"/>
            <a:ext cx="8204150" cy="5451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2903" y="3704630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6284" y="3704630"/>
            <a:ext cx="260084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+ Plotly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27700" y="3704630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prototyping; radar charts + donut charts for score viz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925" y="4170313"/>
            <a:ext cx="8204150" cy="5451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2903" y="4249787"/>
            <a:ext cx="178281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6284" y="4249787"/>
            <a:ext cx="260084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Jinja2 HTML + JSON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27700" y="4249787"/>
            <a:ext cx="3013472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Self-contained report; JSON for downstream API consumption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14486"/>
            <a:ext cx="415505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5-Dimension Scoring Rubric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9610" y="1121494"/>
            <a:ext cx="3965674" cy="3476476"/>
          </a:xfrm>
          <a:prstGeom prst="roundRect">
            <a:avLst>
              <a:gd name="adj" fmla="val 15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4372" y="1126257"/>
            <a:ext cx="3956149" cy="5165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2811" y="1200820"/>
            <a:ext cx="729779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74229" y="1200820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3267" y="1200820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– Poor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2304" y="1200820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– Excellent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372" y="1642839"/>
            <a:ext cx="3956149" cy="332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2811" y="1717402"/>
            <a:ext cx="729779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Match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4229" y="1717402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3267" y="1717402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&lt;30% match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2304" y="1717402"/>
            <a:ext cx="729779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&gt;85% match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4372" y="1975693"/>
            <a:ext cx="3956149" cy="7003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2811" y="2050256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Relevance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4229" y="2050256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3267" y="2050256"/>
            <a:ext cx="727397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Unrelated domain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52304" y="2050256"/>
            <a:ext cx="729779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domain &amp; seniority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372" y="2676004"/>
            <a:ext cx="3956149" cy="5165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2811" y="2750567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&amp; Certs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4229" y="2750567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3267" y="2750567"/>
            <a:ext cx="727397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Below minimum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52304" y="2750567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 + extra certs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4372" y="3192587"/>
            <a:ext cx="3956149" cy="7003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2811" y="3267149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/ Portfolio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74229" y="3267149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3267" y="3267149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evidence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52304" y="3267149"/>
            <a:ext cx="729779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relevant portfolio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372" y="3892897"/>
            <a:ext cx="3956149" cy="7003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2811" y="3967460"/>
            <a:ext cx="72977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 Quality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4229" y="3967460"/>
            <a:ext cx="727397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3267" y="3967460"/>
            <a:ext cx="727397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structure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52304" y="3967460"/>
            <a:ext cx="729779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Crisp, structured, impactful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3479" y="1121494"/>
            <a:ext cx="1924645" cy="786259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205" y="12642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≥7.5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76205" y="1581299"/>
            <a:ext cx="163919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Hire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74507" y="1121494"/>
            <a:ext cx="1924645" cy="786259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7234" y="12642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≥6.0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17234" y="1581299"/>
            <a:ext cx="163919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✓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33479" y="2024137"/>
            <a:ext cx="1924645" cy="786259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6205" y="216686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≥4.0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76205" y="2483941"/>
            <a:ext cx="163919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○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Maybe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74507" y="2024137"/>
            <a:ext cx="1924645" cy="786259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7234" y="216686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&lt;4.0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917234" y="2483941"/>
            <a:ext cx="163919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✗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Hire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418654"/>
            <a:ext cx="4493642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Production-Grade Security Layer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45219" y="994246"/>
            <a:ext cx="4076254" cy="1286470"/>
          </a:xfrm>
          <a:prstGeom prst="roundRect">
            <a:avLst>
              <a:gd name="adj" fmla="val 39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65" y="1118592"/>
            <a:ext cx="358825" cy="3588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238" y="1217265"/>
            <a:ext cx="161479" cy="1614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9565" y="1578322"/>
            <a:ext cx="181295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Prompt Injection Detection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69565" y="1825675"/>
            <a:ext cx="3827562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Regex patterns detect 10+ injection attempts; flagged lines quarantined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622378" y="994246"/>
            <a:ext cx="4076328" cy="1286470"/>
          </a:xfrm>
          <a:prstGeom prst="roundRect">
            <a:avLst>
              <a:gd name="adj" fmla="val 39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724" y="1118592"/>
            <a:ext cx="358825" cy="3588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5397" y="1217265"/>
            <a:ext cx="161479" cy="1614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46724" y="15783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PII Masking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746724" y="1825675"/>
            <a:ext cx="3827636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Emails, phones, LinkedIn, GitHub masked BEFORE any API call; originals stay local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445219" y="2381622"/>
            <a:ext cx="4076254" cy="1121122"/>
          </a:xfrm>
          <a:prstGeom prst="roundRect">
            <a:avLst>
              <a:gd name="adj" fmla="val 448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565" y="2505968"/>
            <a:ext cx="358825" cy="35882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238" y="2604641"/>
            <a:ext cx="161479" cy="16147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69565" y="296569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 Key Safety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569565" y="3213050"/>
            <a:ext cx="3827562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python-dotenv + .env.example; .env in .gitignore; never hardcoded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4622378" y="2381622"/>
            <a:ext cx="4076328" cy="1121122"/>
          </a:xfrm>
          <a:prstGeom prst="roundRect">
            <a:avLst>
              <a:gd name="adj" fmla="val 448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724" y="2505968"/>
            <a:ext cx="358825" cy="35882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5397" y="2604641"/>
            <a:ext cx="161479" cy="16147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46724" y="296569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Hallucination Guard</a:t>
            </a:r>
            <a:endParaRPr lang="en-US" sz="1150" dirty="0"/>
          </a:p>
        </p:txBody>
      </p:sp>
      <p:sp>
        <p:nvSpPr>
          <p:cNvPr id="22" name="Text 12"/>
          <p:cNvSpPr/>
          <p:nvPr/>
        </p:nvSpPr>
        <p:spPr>
          <a:xfrm>
            <a:off x="4746724" y="3213050"/>
            <a:ext cx="3827636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Pydantic v2 validates all LLM outputs; score bounds enforced (0–10)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445219" y="3603650"/>
            <a:ext cx="4076254" cy="1121122"/>
          </a:xfrm>
          <a:prstGeom prst="roundRect">
            <a:avLst>
              <a:gd name="adj" fmla="val 448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565" y="3727996"/>
            <a:ext cx="358825" cy="358825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8238" y="3826669"/>
            <a:ext cx="161479" cy="161479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69565" y="418772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Bias Detection</a:t>
            </a:r>
            <a:endParaRPr lang="en-US" sz="1150" dirty="0"/>
          </a:p>
        </p:txBody>
      </p:sp>
      <p:sp>
        <p:nvSpPr>
          <p:cNvPr id="27" name="Text 15"/>
          <p:cNvSpPr/>
          <p:nvPr/>
        </p:nvSpPr>
        <p:spPr>
          <a:xfrm>
            <a:off x="569565" y="4435078"/>
            <a:ext cx="3827562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 signal detector flags candidates for blind human review</a:t>
            </a:r>
            <a:endParaRPr lang="en-US" sz="900" dirty="0"/>
          </a:p>
        </p:txBody>
      </p:sp>
      <p:sp>
        <p:nvSpPr>
          <p:cNvPr id="28" name="Shape 16"/>
          <p:cNvSpPr/>
          <p:nvPr/>
        </p:nvSpPr>
        <p:spPr>
          <a:xfrm>
            <a:off x="4622378" y="3603650"/>
            <a:ext cx="4076328" cy="1121122"/>
          </a:xfrm>
          <a:prstGeom prst="roundRect">
            <a:avLst>
              <a:gd name="adj" fmla="val 448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6724" y="3727996"/>
            <a:ext cx="358825" cy="358825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45397" y="3826669"/>
            <a:ext cx="161479" cy="161479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746724" y="418772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32" name="Text 18"/>
          <p:cNvSpPr/>
          <p:nvPr/>
        </p:nvSpPr>
        <p:spPr>
          <a:xfrm>
            <a:off x="4746724" y="4435078"/>
            <a:ext cx="3827636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human overrides logged with reason, reviewer name, and timestamp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12552"/>
            <a:ext cx="561096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Live Results on 5-Resume Test Batch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76995"/>
            <a:ext cx="8213675" cy="2314947"/>
          </a:xfrm>
          <a:prstGeom prst="roundRect">
            <a:avLst>
              <a:gd name="adj" fmla="val 24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9925" y="1081757"/>
            <a:ext cx="8204150" cy="5451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02977" y="1161231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25773" y="1161231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6774" y="1161231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7359" y="1161231"/>
            <a:ext cx="960016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37945" y="1161231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Path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68530" y="1161231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925" y="1626915"/>
            <a:ext cx="8204150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2977" y="1706389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25773" y="1706389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Sanskar Modi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6774" y="1706389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9.0 /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7359" y="1706389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Strong Hire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37945" y="1706389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68530" y="1706389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$0.01791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9925" y="1978968"/>
            <a:ext cx="8204150" cy="352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2977" y="2058442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25773" y="2058442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Sneha Patel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6774" y="2058442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8.8 / 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7359" y="2058442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Strong Hire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37945" y="2058442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68530" y="2058442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$0.01687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925" y="2331021"/>
            <a:ext cx="8204150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2977" y="2410495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25773" y="2410495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Priya Mehta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6774" y="2410495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6.8 /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7359" y="2410495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Hire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37945" y="2410495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68530" y="2410495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$0.01466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9925" y="2683073"/>
            <a:ext cx="8204150" cy="352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02977" y="2762548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25773" y="2762548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Rahul Verma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6774" y="2762548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 /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7359" y="2762548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No Hire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37945" y="2762548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⚡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Yes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68530" y="2762548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$0.00000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925" y="3035126"/>
            <a:ext cx="8204150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2977" y="3114601"/>
            <a:ext cx="552227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25773" y="3114601"/>
            <a:ext cx="1780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Malicious Actor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6774" y="3114601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 / 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7359" y="3114601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No Hire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37945" y="3114601"/>
            <a:ext cx="96001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⚡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 xml:space="preserve"> Yes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68530" y="3114601"/>
            <a:ext cx="1372642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$0.00000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5162" y="3532063"/>
            <a:ext cx="8213675" cy="529382"/>
          </a:xfrm>
          <a:prstGeom prst="roundRect">
            <a:avLst>
              <a:gd name="adj" fmla="val 10545"/>
            </a:avLst>
          </a:prstGeom>
          <a:solidFill>
            <a:srgbClr val="B6FCB8"/>
          </a:solidFill>
          <a:ln/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3719959"/>
            <a:ext cx="166092" cy="132904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97062" y="3689821"/>
            <a:ext cx="7648873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5 candidates fast-path rejected → 40% LLM cost saved. Total batch cost: $0.049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65162" y="4201567"/>
            <a:ext cx="8213675" cy="529382"/>
          </a:xfrm>
          <a:prstGeom prst="roundRect">
            <a:avLst>
              <a:gd name="adj" fmla="val 10545"/>
            </a:avLst>
          </a:prstGeom>
          <a:solidFill>
            <a:srgbClr val="FCF2B5"/>
          </a:solidFill>
          <a:ln/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66" y="4389462"/>
            <a:ext cx="166092" cy="132904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97062" y="4359325"/>
            <a:ext cx="7648873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injection attempt in Resume #5 detected and quarantined successfully.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20799"/>
            <a:ext cx="458167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Learnings &amp; Potential Extensions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6766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Learnings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7336" y="1164654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334765"/>
            <a:ext cx="3612207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336" y="1417588"/>
            <a:ext cx="182441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Two-Path Architecture Is Real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7336" y="1670149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from scratch gave deep understanding of cost/accuracy tradeoffs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7336" y="197829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36" y="2126754"/>
            <a:ext cx="3612207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336" y="2231231"/>
            <a:ext cx="22810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Structured Output Is Non-Negotiable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7336" y="2483793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Pydantic eliminates an entire class of parsing bugs in agentic systems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27336" y="2791941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2918743"/>
            <a:ext cx="3612207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336" y="3044875"/>
            <a:ext cx="193476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Is Not an Afterthought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27336" y="3297436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PII masking and injection detection must be in layer 1, not bolted on later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709071" y="86766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Potential Extensions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09071" y="1164654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071" y="1334765"/>
            <a:ext cx="3612207" cy="142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071" y="1417588"/>
            <a:ext cx="153523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LinkedIn Profile Ingestion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709071" y="1670149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ingestion via RapidAPI scraper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4709071" y="197829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071" y="2137618"/>
            <a:ext cx="3612207" cy="142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9071" y="223123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Full LLM Observability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709071" y="2483793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LangSmith / Langfuse tracing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4709071" y="2791941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071" y="2940397"/>
            <a:ext cx="3612207" cy="142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09071" y="3044875"/>
            <a:ext cx="158702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Persistent Audit Database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709071" y="3297436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for override logs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4709071" y="360558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8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071" y="3743251"/>
            <a:ext cx="3612207" cy="142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09071" y="385851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Batch Caching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4709071" y="4111079"/>
            <a:ext cx="3612207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re-scoring identical resumes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827336" y="4506888"/>
            <a:ext cx="7489254" cy="8111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34" name="Text 25"/>
          <p:cNvSpPr/>
          <p:nvPr/>
        </p:nvSpPr>
        <p:spPr>
          <a:xfrm>
            <a:off x="827336" y="4678859"/>
            <a:ext cx="7489254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with Claude Sonnet 4 · Custom Two-Path Orchestrator · Pydantic · sentence-transformers · Streamlit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2026-05-11T14:57:19Z</dcterms:created>
  <dcterms:modified xsi:type="dcterms:W3CDTF">2026-05-11T14:57:19Z</dcterms:modified>
</cp:coreProperties>
</file>